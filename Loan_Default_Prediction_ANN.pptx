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887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LOAN DEFAULT PREDICTION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Artificial Neural Networks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0" y="2651760"/>
            <a:ext cx="3657600" cy="73152"/>
          </a:xfrm>
          <a:prstGeom prst="rect">
            <a:avLst/>
          </a:prstGeom>
          <a:solidFill>
            <a:srgbClr val="60A5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Learning &amp; Machine Learning Project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B.Tech Engineering | 2024-25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8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PROBLEM STATEMENT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914400"/>
          </a:xfrm>
          <a:prstGeom prst="rect">
            <a:avLst/>
          </a:prstGeom>
          <a:solidFill>
            <a:srgbClr val="1E3A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Loan default is a critical issue in the financial industry. Banks and lenders need to identify high-risk borrowers to minimize losses and make informed lending decisions.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2377440"/>
            <a:ext cx="2560320" cy="9144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5146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$1.5T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 Credit Card Debt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2377440"/>
            <a:ext cx="2560320" cy="914400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0" y="25146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3-6%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200400" y="29260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Default Rate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43600" y="2377440"/>
            <a:ext cx="2560320" cy="9144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0" y="25146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Billions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5943600" y="29260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Lost Annually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3566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CHALLENGES: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457200" y="3931920"/>
            <a:ext cx="137160" cy="13716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3886200"/>
            <a:ext cx="8001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Imbalanced dataset (defaults are rare)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4206240"/>
            <a:ext cx="137160" cy="13716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4160520"/>
            <a:ext cx="8001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complex features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4480560"/>
            <a:ext cx="137160" cy="13716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4434840"/>
            <a:ext cx="8001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 for high recall (catch defaulters)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4754880"/>
            <a:ext cx="137160" cy="13716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4709160"/>
            <a:ext cx="8001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prediction requirements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8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PROJECT OBJECTIVES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914400" y="1097280"/>
            <a:ext cx="7315200" cy="7315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128016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 Deep Learning model to predict loan defaults with high accuracy and recall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234440" y="2103120"/>
            <a:ext cx="7452360" cy="457200"/>
          </a:xfrm>
          <a:prstGeom prst="rect">
            <a:avLst/>
          </a:prstGeom>
          <a:solidFill>
            <a:srgbClr val="FFFFFF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0" y="2176272"/>
            <a:ext cx="7178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Analysis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 comprehensive EDA to understand patterns and relationships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2697480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697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1234440" y="2697480"/>
            <a:ext cx="7452360" cy="457200"/>
          </a:xfrm>
          <a:prstGeom prst="rect">
            <a:avLst/>
          </a:prstGeom>
          <a:solidFill>
            <a:srgbClr val="FFFFFF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71600" y="2770632"/>
            <a:ext cx="7178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 Imbalance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SMOTE technique to balance the minority class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3291840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291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1234440" y="3291840"/>
            <a:ext cx="7452360" cy="457200"/>
          </a:xfrm>
          <a:prstGeom prst="rect">
            <a:avLst/>
          </a:prstGeom>
          <a:solidFill>
            <a:srgbClr val="FFFFFF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71600" y="3364992"/>
            <a:ext cx="7178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ANN Model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deep neural network with multiple hidden layers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" y="3886200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886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1234440" y="3886200"/>
            <a:ext cx="7452360" cy="457200"/>
          </a:xfrm>
          <a:prstGeom prst="rect">
            <a:avLst/>
          </a:prstGeom>
          <a:solidFill>
            <a:srgbClr val="FFFFFF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371600" y="3959352"/>
            <a:ext cx="7178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 Performance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Achieve high recall to minimize false negatives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40080" y="4480560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4480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1234440" y="4480560"/>
            <a:ext cx="7452360" cy="457200"/>
          </a:xfrm>
          <a:prstGeom prst="rect">
            <a:avLst/>
          </a:prstGeom>
          <a:solidFill>
            <a:srgbClr val="FFFFFF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371600" y="4553712"/>
            <a:ext cx="7178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Solution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 reliable decision-support tool for lenders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8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DATASET OVERVIEW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DATASET DETAILS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41148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64592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Records: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10,000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41148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210312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Features: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(8 numerical + 11 categorical)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468880"/>
            <a:ext cx="41148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56032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Variable: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 (Binary: Yes/No)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926080"/>
            <a:ext cx="41148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301752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Split: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 (12,872 samples)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383280"/>
            <a:ext cx="41148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347472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Split: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 (3,218 samples)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54880" y="10972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CLASS DISTRIBUTION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4754880" y="1645920"/>
            <a:ext cx="3931920" cy="8229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0" y="173736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SMOTE (Original)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54880" y="20116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Non-Default: 8,045 (84%)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Default: 1,533 (16%)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2606040"/>
            <a:ext cx="3931920" cy="8229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9" name="Text 17"/>
          <p:cNvSpPr/>
          <p:nvPr/>
        </p:nvSpPr>
        <p:spPr>
          <a:xfrm>
            <a:off x="4754880" y="269748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SMOTE (Balanced)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754880" y="29718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Non-Default: 8,045 (50%)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Default: 8,045 (50%)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3840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FEATURES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40080" y="420624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Loan Amount, Interest Rate, Income, Employment Length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080" y="448056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Credit History, Debt-to-Income Ratio, Purpose, Home Ownership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8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METHODOLOGY &amp; WORKFLOW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96012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1417320"/>
            <a:ext cx="411480" cy="411480"/>
          </a:xfrm>
          <a:prstGeom prst="ellipse">
            <a:avLst/>
          </a:prstGeom>
          <a:solidFill>
            <a:srgbClr val="1E3A8A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4173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85800" y="1874520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Collection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2148840"/>
            <a:ext cx="868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dataset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609344" y="1783080"/>
            <a:ext cx="27432" cy="182880"/>
          </a:xfrm>
          <a:prstGeom prst="rightArrow">
            <a:avLst/>
          </a:prstGeom>
          <a:solidFill>
            <a:srgbClr val="60A5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0" y="1280160"/>
            <a:ext cx="96012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920240" y="1417320"/>
            <a:ext cx="411480" cy="411480"/>
          </a:xfrm>
          <a:prstGeom prst="ellipse">
            <a:avLst/>
          </a:prstGeom>
          <a:solidFill>
            <a:srgbClr val="1E3A8A"/>
          </a:solidFill>
          <a:ln/>
        </p:spPr>
      </p:sp>
      <p:sp>
        <p:nvSpPr>
          <p:cNvPr id="11" name="Text 9"/>
          <p:cNvSpPr/>
          <p:nvPr/>
        </p:nvSpPr>
        <p:spPr>
          <a:xfrm>
            <a:off x="1920240" y="14173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691640" y="1874520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691640" y="2148840"/>
            <a:ext cx="868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 patterns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615184" y="1783080"/>
            <a:ext cx="27432" cy="182880"/>
          </a:xfrm>
          <a:prstGeom prst="rightArrow">
            <a:avLst/>
          </a:prstGeom>
          <a:solidFill>
            <a:srgbClr val="60A5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651760" y="1280160"/>
            <a:ext cx="96012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926080" y="1417320"/>
            <a:ext cx="411480" cy="411480"/>
          </a:xfrm>
          <a:prstGeom prst="ellipse">
            <a:avLst/>
          </a:prstGeom>
          <a:solidFill>
            <a:srgbClr val="1E3A8A"/>
          </a:solidFill>
          <a:ln/>
        </p:spPr>
      </p:sp>
      <p:sp>
        <p:nvSpPr>
          <p:cNvPr id="17" name="Text 15"/>
          <p:cNvSpPr/>
          <p:nvPr/>
        </p:nvSpPr>
        <p:spPr>
          <a:xfrm>
            <a:off x="2926080" y="14173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2697480" y="1874520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Preprocessing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697480" y="2148840"/>
            <a:ext cx="868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&amp; scale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21024" y="1783080"/>
            <a:ext cx="27432" cy="182880"/>
          </a:xfrm>
          <a:prstGeom prst="rightArrow">
            <a:avLst/>
          </a:prstGeom>
          <a:solidFill>
            <a:srgbClr val="60A5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0" y="1280160"/>
            <a:ext cx="96012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931920" y="1417320"/>
            <a:ext cx="411480" cy="411480"/>
          </a:xfrm>
          <a:prstGeom prst="ellipse">
            <a:avLst/>
          </a:prstGeom>
          <a:solidFill>
            <a:srgbClr val="1E3A8A"/>
          </a:solidFill>
          <a:ln/>
        </p:spPr>
      </p:sp>
      <p:sp>
        <p:nvSpPr>
          <p:cNvPr id="23" name="Text 21"/>
          <p:cNvSpPr/>
          <p:nvPr/>
        </p:nvSpPr>
        <p:spPr>
          <a:xfrm>
            <a:off x="3931920" y="14173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3703320" y="1874520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Engineering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703320" y="2148840"/>
            <a:ext cx="868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dummies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40080" y="2743200"/>
            <a:ext cx="96012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14400" y="2880360"/>
            <a:ext cx="411480" cy="411480"/>
          </a:xfrm>
          <a:prstGeom prst="ellipse">
            <a:avLst/>
          </a:prstGeom>
          <a:solidFill>
            <a:srgbClr val="1E3A8A"/>
          </a:solidFill>
          <a:ln/>
        </p:spPr>
      </p:sp>
      <p:sp>
        <p:nvSpPr>
          <p:cNvPr id="28" name="Text 26"/>
          <p:cNvSpPr/>
          <p:nvPr/>
        </p:nvSpPr>
        <p:spPr>
          <a:xfrm>
            <a:off x="914400" y="28803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685800" y="3337560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SMOTE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85800" y="3611880"/>
            <a:ext cx="868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 classes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1609344" y="3246120"/>
            <a:ext cx="27432" cy="182880"/>
          </a:xfrm>
          <a:prstGeom prst="rightArrow">
            <a:avLst/>
          </a:prstGeom>
          <a:solidFill>
            <a:srgbClr val="60A5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645920" y="2743200"/>
            <a:ext cx="96012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920240" y="2880360"/>
            <a:ext cx="411480" cy="411480"/>
          </a:xfrm>
          <a:prstGeom prst="ellipse">
            <a:avLst/>
          </a:prstGeom>
          <a:solidFill>
            <a:srgbClr val="1E3A8A"/>
          </a:solidFill>
          <a:ln/>
        </p:spPr>
      </p:sp>
      <p:sp>
        <p:nvSpPr>
          <p:cNvPr id="34" name="Text 32"/>
          <p:cNvSpPr/>
          <p:nvPr/>
        </p:nvSpPr>
        <p:spPr>
          <a:xfrm>
            <a:off x="1920240" y="28803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1691640" y="3337560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Training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691640" y="3611880"/>
            <a:ext cx="868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ANN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615184" y="3246120"/>
            <a:ext cx="27432" cy="182880"/>
          </a:xfrm>
          <a:prstGeom prst="rightArrow">
            <a:avLst/>
          </a:prstGeom>
          <a:solidFill>
            <a:srgbClr val="60A5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651760" y="2743200"/>
            <a:ext cx="96012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926080" y="2880360"/>
            <a:ext cx="411480" cy="411480"/>
          </a:xfrm>
          <a:prstGeom prst="ellipse">
            <a:avLst/>
          </a:prstGeom>
          <a:solidFill>
            <a:srgbClr val="1E3A8A"/>
          </a:solidFill>
          <a:ln/>
        </p:spPr>
      </p:sp>
      <p:sp>
        <p:nvSpPr>
          <p:cNvPr id="40" name="Text 38"/>
          <p:cNvSpPr/>
          <p:nvPr/>
        </p:nvSpPr>
        <p:spPr>
          <a:xfrm>
            <a:off x="2926080" y="28803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2000" dirty="0"/>
          </a:p>
        </p:txBody>
      </p:sp>
      <p:sp>
        <p:nvSpPr>
          <p:cNvPr id="41" name="Text 39"/>
          <p:cNvSpPr/>
          <p:nvPr/>
        </p:nvSpPr>
        <p:spPr>
          <a:xfrm>
            <a:off x="2697480" y="3337560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2697480" y="3611880"/>
            <a:ext cx="868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performance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621024" y="3246120"/>
            <a:ext cx="27432" cy="182880"/>
          </a:xfrm>
          <a:prstGeom prst="rightArrow">
            <a:avLst/>
          </a:prstGeom>
          <a:solidFill>
            <a:srgbClr val="60A5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657600" y="2743200"/>
            <a:ext cx="96012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931920" y="2880360"/>
            <a:ext cx="411480" cy="411480"/>
          </a:xfrm>
          <a:prstGeom prst="ellipse">
            <a:avLst/>
          </a:prstGeom>
          <a:solidFill>
            <a:srgbClr val="1E3A8A"/>
          </a:solidFill>
          <a:ln/>
        </p:spPr>
      </p:sp>
      <p:sp>
        <p:nvSpPr>
          <p:cNvPr id="46" name="Text 44"/>
          <p:cNvSpPr/>
          <p:nvPr/>
        </p:nvSpPr>
        <p:spPr>
          <a:xfrm>
            <a:off x="3931920" y="28803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</a:t>
            </a:r>
            <a:endParaRPr lang="en-US" sz="2000" dirty="0"/>
          </a:p>
        </p:txBody>
      </p:sp>
      <p:sp>
        <p:nvSpPr>
          <p:cNvPr id="47" name="Text 45"/>
          <p:cNvSpPr/>
          <p:nvPr/>
        </p:nvSpPr>
        <p:spPr>
          <a:xfrm>
            <a:off x="3703320" y="3337560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3703320" y="3611880"/>
            <a:ext cx="868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 model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8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 PREPROCESSING &amp; SMOTE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PREPROCESSING STEPS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41148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64592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Checked for null values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41148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210312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Univariate analysis of features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468880"/>
            <a:ext cx="41148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56032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Bivariate &amp; multivariate analysis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926080"/>
            <a:ext cx="41148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301752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Scaled numerical features (StandardScaler)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383280"/>
            <a:ext cx="41148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347472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Encoded categorical variables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840480"/>
            <a:ext cx="41148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93192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Created dummy variables for 'Purpose'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54880" y="10972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SMOTE TECHNIQUE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4754880" y="1554480"/>
            <a:ext cx="3931920" cy="109728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18" name="Text 16"/>
          <p:cNvSpPr/>
          <p:nvPr/>
        </p:nvSpPr>
        <p:spPr>
          <a:xfrm>
            <a:off x="4846320" y="169164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Synthetic Minority Over-sampling Technique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46320" y="196596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Creates synthetic samples of the minority class (defaulters) to balance the dataset.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100" dirty="0"/>
          </a:p>
          <a:p>
            <a:pPr indent="0" marL="0">
              <a:buNone/>
            </a:pPr>
            <a:r>
              <a:rPr lang="en-US" sz="12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SMOTE?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Improves model's ability to detect defaults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Prevents bias toward majority class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Increases recall for defaulters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54880" y="28346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IMPACT ON TRAINING DATA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754880" y="32004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Before: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760720" y="3200400"/>
            <a:ext cx="2286000" cy="2286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3" name="Text 21"/>
          <p:cNvSpPr/>
          <p:nvPr/>
        </p:nvSpPr>
        <p:spPr>
          <a:xfrm>
            <a:off x="5760720" y="32004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84% vs 16%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754880" y="35204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After: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760720" y="3520440"/>
            <a:ext cx="2926080" cy="2286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6" name="Text 24"/>
          <p:cNvSpPr/>
          <p:nvPr/>
        </p:nvSpPr>
        <p:spPr>
          <a:xfrm>
            <a:off x="5760720" y="352044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 vs 50% (Balanced)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3A8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ARTIFICIAL NEURAL NETWORK ARCHITECTURE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2286000" y="1188720"/>
            <a:ext cx="4572000" cy="320040"/>
          </a:xfrm>
          <a:prstGeom prst="rect">
            <a:avLst/>
          </a:prstGeom>
          <a:solidFill>
            <a:srgbClr val="1E3A8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377440" y="12344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Layer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297680" y="123444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features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389120" y="1513332"/>
            <a:ext cx="365760" cy="18288"/>
          </a:xfrm>
          <a:prstGeom prst="downArrow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0" y="1536192"/>
            <a:ext cx="4572000" cy="320040"/>
          </a:xfrm>
          <a:prstGeom prst="rect">
            <a:avLst/>
          </a:prstGeom>
          <a:solidFill>
            <a:srgbClr val="3B82F6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377440" y="158191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Hidden Layer 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297680" y="158191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neurons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760720" y="1581912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ReLU + L2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389120" y="1860804"/>
            <a:ext cx="365760" cy="18288"/>
          </a:xfrm>
          <a:prstGeom prst="downArrow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86000" y="1883664"/>
            <a:ext cx="4572000" cy="320040"/>
          </a:xfrm>
          <a:prstGeom prst="rect">
            <a:avLst/>
          </a:prstGeom>
          <a:solidFill>
            <a:srgbClr val="60A5F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77440" y="1929384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 Norm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297680" y="1929384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Normalization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389120" y="2208276"/>
            <a:ext cx="365760" cy="18288"/>
          </a:xfrm>
          <a:prstGeom prst="downArrow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86000" y="2231136"/>
            <a:ext cx="4572000" cy="320040"/>
          </a:xfrm>
          <a:prstGeom prst="rect">
            <a:avLst/>
          </a:prstGeom>
          <a:solidFill>
            <a:srgbClr val="3B82F6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77440" y="2276856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Hidden Layer 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297680" y="2276856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 neurons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760720" y="2276856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ReLU + L2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389120" y="2555748"/>
            <a:ext cx="365760" cy="18288"/>
          </a:xfrm>
          <a:prstGeom prst="downArrow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86000" y="2578608"/>
            <a:ext cx="4572000" cy="320040"/>
          </a:xfrm>
          <a:prstGeom prst="rect">
            <a:avLst/>
          </a:prstGeom>
          <a:solidFill>
            <a:srgbClr val="60A5F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377440" y="262432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 Norm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297680" y="2624328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Normalization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389120" y="2903220"/>
            <a:ext cx="365760" cy="18288"/>
          </a:xfrm>
          <a:prstGeom prst="downArrow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286000" y="2926080"/>
            <a:ext cx="4572000" cy="320040"/>
          </a:xfrm>
          <a:prstGeom prst="rect">
            <a:avLst/>
          </a:prstGeom>
          <a:solidFill>
            <a:srgbClr val="3B82F6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77440" y="29718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Hidden Layer 3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297680" y="29718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 neurons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760720" y="297180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ReLU + L2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389120" y="3250692"/>
            <a:ext cx="365760" cy="18288"/>
          </a:xfrm>
          <a:prstGeom prst="downArrow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286000" y="3273552"/>
            <a:ext cx="4572000" cy="320040"/>
          </a:xfrm>
          <a:prstGeom prst="rect">
            <a:avLst/>
          </a:prstGeom>
          <a:solidFill>
            <a:srgbClr val="60A5F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377440" y="331927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 Norm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297680" y="331927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Normalization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389120" y="3598164"/>
            <a:ext cx="365760" cy="18288"/>
          </a:xfrm>
          <a:prstGeom prst="downArrow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286000" y="3621024"/>
            <a:ext cx="4572000" cy="320040"/>
          </a:xfrm>
          <a:prstGeom prst="rect">
            <a:avLst/>
          </a:prstGeom>
          <a:solidFill>
            <a:srgbClr val="3B82F6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377440" y="3666744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Hidden Layer 4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297680" y="3666744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neurons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760720" y="3666744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ReLU + L2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389120" y="3945636"/>
            <a:ext cx="365760" cy="18288"/>
          </a:xfrm>
          <a:prstGeom prst="downArrow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286000" y="3968496"/>
            <a:ext cx="4572000" cy="320040"/>
          </a:xfrm>
          <a:prstGeom prst="rect">
            <a:avLst/>
          </a:prstGeom>
          <a:solidFill>
            <a:srgbClr val="1E3A8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377440" y="4014216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Layer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297680" y="4014216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neuron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760720" y="4014216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Sigmoid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57200" y="4389120"/>
            <a:ext cx="8229600" cy="64008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44" name="Text 42"/>
          <p:cNvSpPr/>
          <p:nvPr/>
        </p:nvSpPr>
        <p:spPr>
          <a:xfrm>
            <a:off x="640080" y="45262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Optimizer: Adam  |  </a:t>
            </a:r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Loss: Binary Cross-entropy  |  </a:t>
            </a:r>
            <a:pPr algn="ctr" indent="0" marL="0">
              <a:buNone/>
            </a:pPr>
            <a:r>
              <a:rPr lang="en-US" sz="13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Parameters: 5,376 (21 KB)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8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MODEL PERFORMANCE &amp; RESULTS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1828800" cy="100584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80.92%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1874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697480" y="1188720"/>
            <a:ext cx="1828800" cy="10058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2697480" y="13716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78.58%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2697480" y="1874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63440" y="1188720"/>
            <a:ext cx="1828800" cy="10058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4663440" y="13716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84.85%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4663440" y="1874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629400" y="1188720"/>
            <a:ext cx="1828800" cy="1005840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13" name="Text 11"/>
          <p:cNvSpPr/>
          <p:nvPr/>
        </p:nvSpPr>
        <p:spPr>
          <a:xfrm>
            <a:off x="6629400" y="13716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0.47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6629400" y="1874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Loss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2468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INSIGHTS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457200" y="2926080"/>
            <a:ext cx="320040" cy="3200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9260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14400" y="2944368"/>
            <a:ext cx="777240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Recall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84.85% recall means model successfully identifies most defaulters, minimizing risk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3337560"/>
            <a:ext cx="320040" cy="3200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3375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14400" y="3355848"/>
            <a:ext cx="777240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Balanced Performance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(86%) vs Testing (80.92%) accuracy shows good generalization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3749040"/>
            <a:ext cx="320040" cy="3200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37490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14400" y="3767328"/>
            <a:ext cx="777240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 Trade-off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78.58% precision indicates some false positives, acceptable for risk management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57200" y="4160520"/>
            <a:ext cx="320040" cy="3200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41605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14400" y="4178808"/>
            <a:ext cx="777240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Ready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avoids overfitting and maintains stable performance on unseen data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8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TOOLS &amp; TECHNOLOGIES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114800" cy="32004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23444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PROGRAMMING &amp; IDE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41148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6002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3.x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programming language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965960"/>
            <a:ext cx="41148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0116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Jupyter Notebook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development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0" y="1188720"/>
            <a:ext cx="4114800" cy="32004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123444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 MANIPULATION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0" y="1554480"/>
            <a:ext cx="41148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20640" y="16002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Pandas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wrangling &amp; analysis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0" y="1965960"/>
            <a:ext cx="41148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20640" y="20116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NumPy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Numerical operations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788920"/>
            <a:ext cx="4114800" cy="32004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83464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VISUALIZATION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3154680"/>
            <a:ext cx="41148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2004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Matplotlib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 plots &amp; charts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566160"/>
            <a:ext cx="41148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6118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Seaborn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Statistical visualization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977640"/>
            <a:ext cx="41148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40233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Livelossplot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training metrics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029200" y="2788920"/>
            <a:ext cx="4114800" cy="32004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0" y="283464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MACHINE LEARNING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029200" y="3154680"/>
            <a:ext cx="41148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20640" y="32004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Scikit-learn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Preprocessing &amp; evaluation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029200" y="3566160"/>
            <a:ext cx="41148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20640" y="36118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Imbalanced-learn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SMOTE technique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029200" y="3977640"/>
            <a:ext cx="41148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20640" y="40233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TensorFlow &amp; Keras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learning framework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8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REAL-WORLD APPLICATIONS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2560320" cy="1234440"/>
          </a:xfrm>
          <a:prstGeom prst="rect">
            <a:avLst/>
          </a:prstGeom>
          <a:solidFill>
            <a:srgbClr val="FFFFFF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325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🏦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Commercial Banks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173736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loan approval and risk assessment for personal and business loans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29000" y="1188720"/>
            <a:ext cx="2560320" cy="1234440"/>
          </a:xfrm>
          <a:prstGeom prst="rect">
            <a:avLst/>
          </a:prstGeom>
          <a:solidFill>
            <a:srgbClr val="FFFFFF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20440" y="1325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💳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520440" y="13716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Credit Card Companies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566160" y="173736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Determine credit limits and interest rates based on default probability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217920" y="1188720"/>
            <a:ext cx="2560320" cy="1234440"/>
          </a:xfrm>
          <a:prstGeom prst="rect">
            <a:avLst/>
          </a:prstGeom>
          <a:solidFill>
            <a:srgbClr val="FFFFFF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0" y="1325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🏠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309360" y="13716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Mortgage Lenders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355080" y="173736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 home loan applications and set appropriate terms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0080" y="2606040"/>
            <a:ext cx="2560320" cy="1234440"/>
          </a:xfrm>
          <a:prstGeom prst="rect">
            <a:avLst/>
          </a:prstGeom>
          <a:solidFill>
            <a:srgbClr val="FFFFFF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2743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📊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731520" y="27889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Financial Institutions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77240" y="315468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 risk management and capital reserve planning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429000" y="2606040"/>
            <a:ext cx="2560320" cy="1234440"/>
          </a:xfrm>
          <a:prstGeom prst="rect">
            <a:avLst/>
          </a:prstGeom>
          <a:solidFill>
            <a:srgbClr val="FFFFFF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20440" y="2743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🤝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3520440" y="27889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Peer-to-Peer Lending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566160" y="315468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Risk-based matching of lenders with borrowers on P2P platforms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217920" y="2606040"/>
            <a:ext cx="2560320" cy="1234440"/>
          </a:xfrm>
          <a:prstGeom prst="rect">
            <a:avLst/>
          </a:prstGeom>
          <a:solidFill>
            <a:srgbClr val="FFFFFF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09360" y="2743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💰</a:t>
            </a:r>
            <a:endParaRPr lang="en-US" sz="3200" dirty="0"/>
          </a:p>
        </p:txBody>
      </p:sp>
      <p:sp>
        <p:nvSpPr>
          <p:cNvPr id="25" name="Text 23"/>
          <p:cNvSpPr/>
          <p:nvPr/>
        </p:nvSpPr>
        <p:spPr>
          <a:xfrm>
            <a:off x="6309360" y="27889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Investment Firms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355080" y="315468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 credit risk for debt securities and corporate bonds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8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ADVANTAGES &amp; CHALLENGES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114800" cy="457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887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 ADVANTAGES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39319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accuracy (80.92%) with excellent recall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Handles complex non-linear relationships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SMOTE balancing improves minority class detection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decision-making reduces manual effort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 regularization prevents overfitting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Scalable to large datasets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prediction capability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Reduces financial losses from defaults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754880" y="1097280"/>
            <a:ext cx="3931920" cy="457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4754880" y="11887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⚠ CHALLENGES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846320" y="1691640"/>
            <a:ext cx="37490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Requires large, high-quality datasets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 imbalance needs special handling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Black-box nature reduces interpretability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time increases with complexity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of overfitting without regularization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engineering requires domain expertise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needs periodic retraining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False positives may reject good borrowers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4663440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The model balances accuracy with recall to maximize defaulter detection while maintaining precision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8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FUTURE ENHANCEMENTS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261872"/>
            <a:ext cx="365760" cy="365760"/>
          </a:xfrm>
          <a:prstGeom prst="ellipse">
            <a:avLst/>
          </a:prstGeom>
          <a:solidFill>
            <a:srgbClr val="1E3A8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2618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914400" y="1188720"/>
            <a:ext cx="37947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261872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Advanced Architectures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1463040"/>
            <a:ext cx="36118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LSTM, GRU for time-series loan data and payment history patterns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800600" y="1261872"/>
            <a:ext cx="365760" cy="36576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4800600" y="12618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257800" y="1188720"/>
            <a:ext cx="37947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49240" y="1261872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Ensemble Methods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349240" y="1463040"/>
            <a:ext cx="36118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 ANN with Random Forest, XGBoost for improved accuracy and robustness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1837944"/>
            <a:ext cx="365760" cy="365760"/>
          </a:xfrm>
          <a:prstGeom prst="ellipse">
            <a:avLst/>
          </a:prstGeom>
          <a:solidFill>
            <a:srgbClr val="60A5FA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183794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914400" y="1764792"/>
            <a:ext cx="37947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Explainable AI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05840" y="2039112"/>
            <a:ext cx="36118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SHAP/LIME for model interpretability and regulatory compliance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800600" y="1837944"/>
            <a:ext cx="365760" cy="365760"/>
          </a:xfrm>
          <a:prstGeom prst="ellipse">
            <a:avLst/>
          </a:prstGeom>
          <a:solidFill>
            <a:srgbClr val="1E3A8A"/>
          </a:solidFill>
          <a:ln/>
        </p:spPr>
      </p:sp>
      <p:sp>
        <p:nvSpPr>
          <p:cNvPr id="19" name="Text 17"/>
          <p:cNvSpPr/>
          <p:nvPr/>
        </p:nvSpPr>
        <p:spPr>
          <a:xfrm>
            <a:off x="4800600" y="183794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257800" y="1764792"/>
            <a:ext cx="37947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4924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Real-time Integration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349240" y="2039112"/>
            <a:ext cx="36118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as REST API for instant credit decisions and live monitoring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2414016"/>
            <a:ext cx="365760" cy="36576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24140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914400" y="2340864"/>
            <a:ext cx="37947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05840" y="241401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Extended Features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05840" y="2615184"/>
            <a:ext cx="36118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 social media, transaction patterns, and alternative credit data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800600" y="2414016"/>
            <a:ext cx="365760" cy="365760"/>
          </a:xfrm>
          <a:prstGeom prst="ellipse">
            <a:avLst/>
          </a:prstGeom>
          <a:solidFill>
            <a:srgbClr val="60A5FA"/>
          </a:solidFill>
          <a:ln/>
        </p:spPr>
      </p:sp>
      <p:sp>
        <p:nvSpPr>
          <p:cNvPr id="29" name="Text 27"/>
          <p:cNvSpPr/>
          <p:nvPr/>
        </p:nvSpPr>
        <p:spPr>
          <a:xfrm>
            <a:off x="4800600" y="24140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257800" y="2340864"/>
            <a:ext cx="37947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49240" y="241401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Mobile Application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349240" y="2615184"/>
            <a:ext cx="36118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 Android/iOS app for loan officers to assess risk on-the-go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57200" y="2990088"/>
            <a:ext cx="365760" cy="365760"/>
          </a:xfrm>
          <a:prstGeom prst="ellipse">
            <a:avLst/>
          </a:prstGeom>
          <a:solidFill>
            <a:srgbClr val="1E3A8A"/>
          </a:solidFill>
          <a:ln/>
        </p:spPr>
      </p:sp>
      <p:sp>
        <p:nvSpPr>
          <p:cNvPr id="34" name="Text 32"/>
          <p:cNvSpPr/>
          <p:nvPr/>
        </p:nvSpPr>
        <p:spPr>
          <a:xfrm>
            <a:off x="457200" y="29900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914400" y="2916936"/>
            <a:ext cx="37947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05840" y="299008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Continuous Learning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005840" y="3191256"/>
            <a:ext cx="36118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online learning to adapt to changing economic conditions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800600" y="2990088"/>
            <a:ext cx="365760" cy="36576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39" name="Text 37"/>
          <p:cNvSpPr/>
          <p:nvPr/>
        </p:nvSpPr>
        <p:spPr>
          <a:xfrm>
            <a:off x="4800600" y="29900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5257800" y="2916936"/>
            <a:ext cx="37947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349240" y="299008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Multi-class Prediction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349240" y="3191256"/>
            <a:ext cx="36118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 default probability levels (low/medium/high risk) instead of binary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CONCLUSION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3200400" y="1371600"/>
            <a:ext cx="2743200" cy="73152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4" name="Text 2"/>
          <p:cNvSpPr/>
          <p:nvPr/>
        </p:nvSpPr>
        <p:spPr>
          <a:xfrm>
            <a:off x="1371600" y="1737360"/>
            <a:ext cx="6400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Successfully built ANN model with 80.92% accuracy
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Achieved 84.85% recall to effectively identify defaulters
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SMOTE technique balanced dataset for better performance
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Production-ready model for financial risk assessment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371600" y="3657600"/>
            <a:ext cx="6400800" cy="685800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6" name="Text 4"/>
          <p:cNvSpPr/>
          <p:nvPr/>
        </p:nvSpPr>
        <p:spPr>
          <a:xfrm>
            <a:off x="1554480" y="3794760"/>
            <a:ext cx="6035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model serves as a reliable decision-support tool for financial institutions to minimize risk, optimize lending decisions, and maximize profitability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0A5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Loan Default Prediction using Artificial Neural Networks</dc:title>
  <dc:subject>PptxGenJS Presentation</dc:subject>
  <dc:creator>B.Tech Student</dc:creator>
  <cp:lastModifiedBy>B.Tech Student</cp:lastModifiedBy>
  <cp:revision>1</cp:revision>
  <dcterms:created xsi:type="dcterms:W3CDTF">2026-03-20T06:42:40Z</dcterms:created>
  <dcterms:modified xsi:type="dcterms:W3CDTF">2026-03-20T06:42:40Z</dcterms:modified>
</cp:coreProperties>
</file>